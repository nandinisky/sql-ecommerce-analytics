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5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Relationship Id="rId10" Type="http://schemas.openxmlformats.org/officeDocument/2006/relationships/image" Target="../media/image7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8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4737" y="4649985"/>
            <a:ext cx="496252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48100" y="1836539"/>
            <a:ext cx="4495651" cy="247650"/>
          </a:xfrm>
          <a:prstGeom prst="rect">
            <a:avLst/>
          </a:prstGeom>
          <a:noFill/>
        </p:spPr>
        <p:txBody>
          <a:bodyPr wrap="square" lIns="213866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2563EB"/>
                </a:solidFill>
                <a:latin typeface="Inter SemiBold"/>
              </a:rPr>
              <a:t>EXECUTIVE ANALYTICS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5406" y="2236589"/>
            <a:ext cx="9501187" cy="1270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b="1" sz="4350" i="0" u="none">
                <a:solidFill>
                  <a:srgbClr val="0F172A"/>
                </a:solidFill>
                <a:latin typeface="Plus Jakarta Sans"/>
              </a:rPr>
              <a:t>E-Commerce Data Analytics &amp; Strategic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735585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SQL Data Cleaning • Quality Validation • Star Schema Modeling • RFM Churn Analysis • Fulfillment &amp; Margin Optimization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1855589"/>
            <a:ext cx="213866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2525"/>
            <a:ext cx="2609850" cy="2695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152525"/>
            <a:ext cx="2609850" cy="2695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52525"/>
            <a:ext cx="2609850" cy="2695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1152525"/>
            <a:ext cx="2609850" cy="2695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428750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2095500"/>
            <a:ext cx="21602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Clean Data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428875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Create clean, highly reliable, and analytics-ready e-commerce data assets from raw transactional staging tables.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075" y="1428750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8075" y="2095500"/>
            <a:ext cx="21602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Margin &amp; Sales KPIs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2428875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Measure top-line sales performance and pinpoint weak profitability and aggressive discount-risk product categories.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1428750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86525" y="2095500"/>
            <a:ext cx="21602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Retention &amp; RFM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2428875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Analyze repeat purchasing patterns and build an RFM segmentation model to catch high-value churn risks early.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4975" y="1428750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24975" y="2095500"/>
            <a:ext cx="216027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SLA &amp;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2428875"/>
            <a:ext cx="205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 fulfillment delay trends vs cancellation rates and translate SQL discoveries into executive action items.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6787" y="1571625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6662" y="1571625"/>
            <a:ext cx="238125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00825" y="1571625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39275" y="1571625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Project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152525"/>
            <a:ext cx="5391150" cy="4024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152525"/>
            <a:ext cx="53911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0F172A"/>
                </a:solidFill>
                <a:latin typeface="Inter SemiBold"/>
              </a:rPr>
              <a:t>The business needs definitive answers—not raw, unvalidated tables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52525"/>
            <a:ext cx="32956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1819275"/>
            <a:ext cx="5048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Data Discrepancies: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Unvalidated staging records contain missing brands, illegal negative amounts, and improper coupon formatting.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719387"/>
            <a:ext cx="5048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Siloed Leadership View: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Decision-makers lack a unified dashboard for commercial growth, RFM customer health, and delivery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619500"/>
            <a:ext cx="50482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Profit Vulnerabilities: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Unclear understanding of which merchandise categories are suffering from heavy discount erosion.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519612"/>
            <a:ext cx="50482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Hidden Churn Risk: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Inability to spot high-spending historical buyers who are silently becoming inactive.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183356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733675"/>
            <a:ext cx="23812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63378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533900"/>
            <a:ext cx="23812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Industry Business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790700"/>
            <a:ext cx="1758850" cy="160734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550" y="1790700"/>
            <a:ext cx="1758999" cy="160734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850" y="1790700"/>
            <a:ext cx="1758999" cy="16073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1790700"/>
            <a:ext cx="1758850" cy="160734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6300" y="1790700"/>
            <a:ext cx="1758999" cy="160734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9600" y="1790700"/>
            <a:ext cx="1758999" cy="160734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1152525"/>
            <a:ext cx="11125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 structured 6-stage analytics pipeline moving from raw unstructured records to strategic executive decisioning.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2019300"/>
            <a:ext cx="1473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447" y="2247900"/>
            <a:ext cx="154675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Staging 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505075"/>
            <a:ext cx="1473100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Ingest raw CSV files directly into unconstrained SQL staging tables.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9425" y="2019300"/>
            <a:ext cx="14732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2594" y="2247900"/>
            <a:ext cx="15469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Clean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9425" y="2505075"/>
            <a:ext cx="1473249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Trim whitespace, format codes, impute NULLs, and fix types.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2725" y="2019300"/>
            <a:ext cx="14732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5894" y="2247900"/>
            <a:ext cx="15469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2725" y="2505075"/>
            <a:ext cx="1473249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Enforce strict business rules and financial reconciliation formulas.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6025" y="2019300"/>
            <a:ext cx="14731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197" y="2247900"/>
            <a:ext cx="154675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Star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6025" y="2505075"/>
            <a:ext cx="147310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Model data into central Fact Sales and optimized Dimensions.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9175" y="2019300"/>
            <a:ext cx="14732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2344" y="2247900"/>
            <a:ext cx="15469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SQL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9175" y="2505075"/>
            <a:ext cx="1473249" cy="692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Execute category, cohort, RFM, and delivery turnaround queries.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2475" y="2019300"/>
            <a:ext cx="14732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2563EB"/>
                </a:solidFill>
                <a:latin typeface="Inter ExtraBold"/>
              </a:rPr>
              <a:t>STEP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5644" y="2247900"/>
            <a:ext cx="1546912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Exec 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2475" y="2505075"/>
            <a:ext cx="1473249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Consolidate key metrics into an executive KPI summary and actions.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Analytical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2525"/>
            <a:ext cx="5391150" cy="407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1152525"/>
            <a:ext cx="5391150" cy="407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466850"/>
            <a:ext cx="1512093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725" y="1809750"/>
            <a:ext cx="50006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Sales Transactions Cleaning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466850"/>
            <a:ext cx="20193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1775" y="1809750"/>
            <a:ext cx="50006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Catalog &amp; Profile 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228600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Trimmed leading/trailing spaces across Order IDs and Customer IDs.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0625" y="2943225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Standardized city, state, and payment status to uniform uppercase.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60045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Standardized coupon codes: converted blank, NULL, and 'nan' strings to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'NONE'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0625" y="4257675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Reset negative total amounts to calculated valid baseline figures.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4675" y="228600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Filled missing product brand and category values with 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'UNKNOWN'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labels.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2943225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Standardized invalid prices, stock levels, and discount percentages.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3600450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Corrected missing customer demographic and contact phone attributes.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4675" y="4257675"/>
            <a:ext cx="4419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Validated numeric types, birth dates, and registration timestamp formats.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300287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957512"/>
            <a:ext cx="19050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3614737"/>
            <a:ext cx="1905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4271962"/>
            <a:ext cx="19050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300287"/>
            <a:ext cx="19050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957512"/>
            <a:ext cx="19050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614737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271962"/>
            <a:ext cx="190500" cy="2000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Cleaning &amp; Transformation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2525"/>
            <a:ext cx="11125200" cy="3309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1162050"/>
          <a:ext cx="11106148" cy="329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81125"/>
                <a:gridCol w="3813869"/>
                <a:gridCol w="4967882"/>
                <a:gridCol w="943272"/>
              </a:tblGrid>
              <a:tr h="65817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Validation Checks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Business &amp; Financial Formula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5817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Sales Fact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NULL checks, duplicate Order IDs, non-zero unit prices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Order Value = Quantity × Unit Price</a:t>
                      </a:r>
                      <a:r>
                        <a:t>
</a:t>
                      </a:r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
         Total Amount = Order Value + Shipping − Coupon Discount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17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Products Dim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Duplicate Product IDs, valid price ranges, rating boundaries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Unit Price &gt; 0, Discount % between 0–100%, Stock &gt;= 0, Rating between 1.0–5.0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5817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Customers Dim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Duplicate Customer IDs, future DOB checks, age group bounds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Customer Age between 18–100, Lifetime Spend &gt;= 0, Valid Customer Tier assignment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179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Fulfillment 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Delivery date vs Order date sequence, operational status maps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Delivery Date &gt;= Order Date; Cancellation reason required for cancelled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Passed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2333625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24050" y="2333625"/>
            <a:ext cx="3813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37919" y="2333625"/>
            <a:ext cx="49678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05802" y="2333625"/>
            <a:ext cx="9432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3038475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4050" y="3038475"/>
            <a:ext cx="3813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37919" y="3038475"/>
            <a:ext cx="49678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05802" y="3038475"/>
            <a:ext cx="9432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3743325"/>
            <a:ext cx="1381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24050" y="3743325"/>
            <a:ext cx="38138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37919" y="3743325"/>
            <a:ext cx="49678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05802" y="3743325"/>
            <a:ext cx="9432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302" y="1890712"/>
            <a:ext cx="561975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302" y="2595562"/>
            <a:ext cx="561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6302" y="3300412"/>
            <a:ext cx="561975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302" y="4005262"/>
            <a:ext cx="561975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Validation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57200"/>
            <a:ext cx="536067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Star Schema Data Model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31266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1495425"/>
            <a:ext cx="536067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1E293B"/>
                </a:solidFill>
                <a:latin typeface="Plus Jakarta Sans SemiBold"/>
              </a:rPr>
              <a:t>SALES as Central Fact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857375"/>
            <a:ext cx="510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Designed a Star Schema data model centered around transaction grain to accelerate analytical query performance and slice-and-dice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619375"/>
            <a:ext cx="4762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FACT_SALES: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Measures quantity, order_value, shipping_cost, coupon_discount, and total_amount.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76600"/>
            <a:ext cx="4762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DIM_CUSTOMERS: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Tracks profiles, geography, age groups, and tier attributes.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933825"/>
            <a:ext cx="47625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DIM_PRODUCTS: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Holds categories, brands, price bands, and review ratings.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633662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90887"/>
            <a:ext cx="2190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48112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2525"/>
            <a:ext cx="2749153" cy="2171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753" y="1152525"/>
            <a:ext cx="3188493" cy="2171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9446" y="1152525"/>
            <a:ext cx="2749153" cy="2171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457325"/>
            <a:ext cx="100831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1781175"/>
            <a:ext cx="230653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CUSTOMERS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114550"/>
            <a:ext cx="2196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Primary Key: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customer_id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419350"/>
            <a:ext cx="219670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Attributes: name, location, demographic tier, age range, registration date.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3090" y="2105025"/>
            <a:ext cx="23812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7978" y="1457325"/>
            <a:ext cx="1265039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7978" y="1781175"/>
            <a:ext cx="276784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FACT_SALES (MANY)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7978" y="2114550"/>
            <a:ext cx="263604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Foreign Keys: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customer_id, product_id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7978" y="2647950"/>
            <a:ext cx="263604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4155"/>
                </a:solidFill>
                <a:latin typeface="Inter"/>
              </a:rPr>
              <a:t>Central transaction entity linking revenue metrics, discounts, and fulfillment metrics.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0784" y="2105025"/>
            <a:ext cx="2381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5671" y="1457325"/>
            <a:ext cx="100831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85671" y="1781175"/>
            <a:ext cx="230653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PRODUCTS (1)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5671" y="2114550"/>
            <a:ext cx="2196703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Primary Key: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product_id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5671" y="2419350"/>
            <a:ext cx="21967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Attributes: category, brand, unit price, stock status, ratings.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Star Schema Entity Relations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38300"/>
            <a:ext cx="2609850" cy="16820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638300"/>
            <a:ext cx="2609850" cy="16820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638300"/>
            <a:ext cx="2609850" cy="16820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0" y="1638300"/>
            <a:ext cx="2609850" cy="16820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587055"/>
            <a:ext cx="5391150" cy="1057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450" y="3587055"/>
            <a:ext cx="5391150" cy="10572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1152525"/>
            <a:ext cx="11125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Establishing top-line commercial baselines from production tables using core SQL aggregates.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2005012"/>
            <a:ext cx="2133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b="0" sz="3450" i="0" u="none">
                <a:solidFill>
                  <a:srgbClr val="2563EB"/>
                </a:solidFill>
                <a:latin typeface="Plus Jakarta Sans ExtraBold"/>
              </a:rPr>
              <a:t>$14.2M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563117"/>
            <a:ext cx="2133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TOTAL GROSS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782192"/>
            <a:ext cx="2133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SUM(total_amount)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9975" y="2005012"/>
            <a:ext cx="2133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b="0" sz="3450" i="0" u="none">
                <a:solidFill>
                  <a:srgbClr val="2563EB"/>
                </a:solidFill>
                <a:latin typeface="Plus Jakarta Sans ExtraBold"/>
              </a:rPr>
              <a:t>125.4K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975" y="2563117"/>
            <a:ext cx="2133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TOTAL VALID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2782192"/>
            <a:ext cx="2133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COUNT(distinct order_id)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005012"/>
            <a:ext cx="2133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b="0" sz="3450" i="0" u="none">
                <a:solidFill>
                  <a:srgbClr val="2563EB"/>
                </a:solidFill>
                <a:latin typeface="Plus Jakarta Sans ExtraBold"/>
              </a:rPr>
              <a:t>$113.20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2563117"/>
            <a:ext cx="2133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782192"/>
            <a:ext cx="2133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AVG(total_amount)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1914525"/>
            <a:ext cx="2133600" cy="481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95"/>
              </a:lnSpc>
            </a:pPr>
            <a:r>
              <a:rPr b="0" sz="3450" i="0" u="none">
                <a:solidFill>
                  <a:srgbClr val="2563EB"/>
                </a:solidFill>
                <a:latin typeface="Plus Jakarta Sans ExtraBold"/>
              </a:rPr>
              <a:t>48.2K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6875" y="2472630"/>
            <a:ext cx="21336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Inter SemiBold"/>
              </a:rPr>
              <a:t>TOTAL ACTIVE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75" y="2872680"/>
            <a:ext cx="2133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b="0" sz="900" i="0" u="none">
                <a:solidFill>
                  <a:srgbClr val="94A3B8"/>
                </a:solidFill>
                <a:latin typeface="Inter"/>
              </a:rPr>
              <a:t>COUNT(distinct customer_id)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425" y="3787080"/>
            <a:ext cx="5240655" cy="200025"/>
          </a:xfrm>
          <a:prstGeom prst="rect">
            <a:avLst/>
          </a:prstGeom>
          <a:noFill/>
        </p:spPr>
        <p:txBody>
          <a:bodyPr wrap="square" lIns="149423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Baseline Revenue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425" y="4044255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Healthy average basket size ($113.20) backed by steady order volumes across active customer accounts.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3787080"/>
            <a:ext cx="5240655" cy="200025"/>
          </a:xfrm>
          <a:prstGeom prst="rect">
            <a:avLst/>
          </a:prstGeom>
          <a:noFill/>
        </p:spPr>
        <p:txBody>
          <a:bodyPr wrap="square" lIns="149423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Promotional 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4044255"/>
            <a:ext cx="49911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Promotions generated transaction volume, but discount leakage requires category-level scrutiny.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3815655"/>
            <a:ext cx="149423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7475" y="3815655"/>
            <a:ext cx="149423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Overall Business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638550"/>
            <a:ext cx="111252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1152525"/>
            <a:ext cx="111252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SQL query joining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SALES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with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PRODUCTS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to evaluate net profit margin % vs discount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Category Profitability &amp;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638550"/>
            <a:ext cx="111252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1152525"/>
            <a:ext cx="111252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SQL CTE cohort analysis calculating customer return velocity (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days_since_first_order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Repeat Purchase Retention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11125200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1152525"/>
            <a:ext cx="1112520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SQL 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NTILE(4)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scoring applied across Recency, Frequency, and Monetary parameters.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57837" y="230505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3587" y="2276475"/>
            <a:ext cx="3695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High-Value Champions (32%)</a:t>
            </a:r>
            <a:r>
              <a:rPr b="0" sz="1200" i="0" u="none">
                <a:solidFill>
                  <a:srgbClr val="334155"/>
                </a:solidFill>
                <a:latin typeface="Inter Medium"/>
              </a:rPr>
              <a:t> — Active &amp; Frequent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7837" y="26670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3587" y="2638425"/>
            <a:ext cx="40290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At-Risk High Value (18%)</a:t>
            </a:r>
            <a:r>
              <a:rPr b="0" sz="1200" i="0" u="none">
                <a:solidFill>
                  <a:srgbClr val="334155"/>
                </a:solidFill>
                <a:latin typeface="Inter Medium"/>
              </a:rPr>
              <a:t> — High Spend, Low Recency!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7837" y="302895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3587" y="3000375"/>
            <a:ext cx="37433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Moderate Loyalists (32%)</a:t>
            </a:r>
            <a:r>
              <a:rPr b="0" sz="1200" i="0" u="none">
                <a:solidFill>
                  <a:srgbClr val="334155"/>
                </a:solidFill>
                <a:latin typeface="Inter Medium"/>
              </a:rPr>
              <a:t> — Steady Repeat Buyers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57837" y="3390900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3587" y="3362325"/>
            <a:ext cx="37719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Low-Value Inactive (18%)</a:t>
            </a:r>
            <a:r>
              <a:rPr b="0" sz="1200" i="0" u="none">
                <a:solidFill>
                  <a:srgbClr val="334155"/>
                </a:solidFill>
                <a:latin typeface="Inter Medium"/>
              </a:rPr>
              <a:t> — High Churn Probability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RFM Customer Churn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629025"/>
            <a:ext cx="111252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52525"/>
            <a:ext cx="11125200" cy="5248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1152525"/>
            <a:ext cx="1112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Evaluating fulfillment turnaround SLA vs customer cancellation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Delivery SLA &amp; Cancellations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00187"/>
            <a:ext cx="11125200" cy="396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152525"/>
            <a:ext cx="111252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Consolidated single-row leadership view generated via SQL view 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vw_executive_kpi_summary</a:t>
            </a:r>
            <a:r>
              <a:rPr b="0" sz="1125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2925" y="1509712"/>
          <a:ext cx="11106149" cy="394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56668"/>
                <a:gridCol w="3543300"/>
                <a:gridCol w="3179117"/>
                <a:gridCol w="2227064"/>
              </a:tblGrid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Metric Pillar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Executive KPI Indicator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SQL Aggregated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Strategic Status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Top-Line Sales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total_gross_revenue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$14,250,800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On Target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total_orders / avg_order_value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125,410 / $113.20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Healthy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total_discounts_given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$1,840,500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High Erosion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Customer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at_risk_customers (RFM)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8,580 Customers (17.8%)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Action Req.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revenue_at_risk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$2,540,000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High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92918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Operations SLA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avg_delivery_days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3.8 Days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Optimal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2924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cancellation_rate_pct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475569"/>
                          </a:solidFill>
                          <a:latin typeface="Inter"/>
                        </a:rPr>
                        <a:t>5.2%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Inter"/>
                        </a:rPr>
                        <a:t>Delayed Routes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3462337"/>
            <a:ext cx="2156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9593" y="24717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2893" y="24717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22010" y="24717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9593" y="29670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2893" y="29670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22010" y="29670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9593" y="34623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2893" y="34623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22010" y="34623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925" y="4452937"/>
            <a:ext cx="2156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9593" y="39576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2893" y="39576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22010" y="39576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9593" y="44529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2893" y="44529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422010" y="44529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2925" y="5438775"/>
            <a:ext cx="215666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99593" y="4948237"/>
            <a:ext cx="3543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2893" y="4948237"/>
            <a:ext cx="317911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22010" y="4948237"/>
            <a:ext cx="22270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510" y="2133600"/>
            <a:ext cx="695325" cy="2095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510" y="2628900"/>
            <a:ext cx="571500" cy="2095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2510" y="3124200"/>
            <a:ext cx="847725" cy="2095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2510" y="3619500"/>
            <a:ext cx="781050" cy="2095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2510" y="4114800"/>
            <a:ext cx="742950" cy="2095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2510" y="4610100"/>
            <a:ext cx="571500" cy="2095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2510" y="5105400"/>
            <a:ext cx="1009650" cy="2095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KPI Summary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2525"/>
            <a:ext cx="3555950" cy="3648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152525"/>
            <a:ext cx="3555950" cy="3648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1152525"/>
            <a:ext cx="3555950" cy="3648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457325"/>
            <a:ext cx="495300" cy="495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2124075"/>
            <a:ext cx="31536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Commercial Health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175" y="145732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94175" y="2124075"/>
            <a:ext cx="31536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Customer Retention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8725" y="145732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78725" y="2124075"/>
            <a:ext cx="31536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 SemiBold"/>
              </a:rPr>
              <a:t>Operational SLA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1600200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8475" y="1600200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3025" y="1600200"/>
            <a:ext cx="26670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52525" y="255270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total_orders: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Invoiced order volume.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3209925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total_gross_revenue: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Top-line sales before deductions.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86715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total_discounts_given: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Promotional allowance tracking.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075" y="255270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unique_customers: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Active user 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075" y="3209925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at_risk_customers: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RFM churn flags.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075" y="386715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revenue_at_risk: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At-risk segment historical spend.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1625" y="255270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avg_delivery_days: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Turnaround speed.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1625" y="3209925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cancellation_rate_pct: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Unfulfilled order proportion.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1625" y="3867150"/>
            <a:ext cx="26606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shipping_revenue: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Freight revenue recovery.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2566987"/>
            <a:ext cx="1143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3224212"/>
            <a:ext cx="1143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3881437"/>
            <a:ext cx="1143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4175" y="2566987"/>
            <a:ext cx="11430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4175" y="3224212"/>
            <a:ext cx="11430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94175" y="3881437"/>
            <a:ext cx="114300" cy="2000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8725" y="2566987"/>
            <a:ext cx="11430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8725" y="3224212"/>
            <a:ext cx="11430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8725" y="3881437"/>
            <a:ext cx="114300" cy="2000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Metric Pillars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33400" y="1152525"/>
            <a:ext cx="111252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9650" y="1323975"/>
            <a:ext cx="10458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DEFEND MARGINS: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Cap promotional discounts on low-margin categories (Apparel at -2.4% margin) and reallocate discount budgets strictly toward high-margin items.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99072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115252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152525"/>
            <a:ext cx="47625" cy="8477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49075" y="1152525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2171700"/>
            <a:ext cx="111252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50" y="2343150"/>
            <a:ext cx="10458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RETAIN HIGH-VALUE CUSTOMERS: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Deploy automated win-back re-engagement offers (e.g., VIP perks, free shipping) for the 8,580 RFM "At Risk" customers to protect $2.54M revenue.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30099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21717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400" y="2171700"/>
            <a:ext cx="47625" cy="84772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49075" y="2171700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3400" y="3190875"/>
            <a:ext cx="111252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9650" y="3362325"/>
            <a:ext cx="10458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OPTIMIZE RETENTION TIMING: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Schedule personalized email and cross-sell triggers within the 0–30 day window following a customer's first purchase.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40290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3400" y="31908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3400" y="3190875"/>
            <a:ext cx="47625" cy="8477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075" y="3190875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3400" y="4210050"/>
            <a:ext cx="11125200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9650" y="4381500"/>
            <a:ext cx="10458450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ENFORCE LOGISTICS SLAs: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Enforce strict 4-day delivery SLAs with 3PL carriers to eliminate delay-driven cancellations exceeding 5 days.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3400" y="50482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3400" y="42100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4210050"/>
            <a:ext cx="47625" cy="8477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649075" y="4210050"/>
            <a:ext cx="9525" cy="847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3400" y="199072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3400" y="300990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3400" y="4029075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5048250"/>
            <a:ext cx="1112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347787"/>
            <a:ext cx="190500" cy="2000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366962"/>
            <a:ext cx="238125" cy="2000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386137"/>
            <a:ext cx="190500" cy="2000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405312"/>
            <a:ext cx="238125" cy="2000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Strategic Business 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693765"/>
            <a:ext cx="8572500" cy="10629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803" y="1596479"/>
            <a:ext cx="1626393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23826" y="2015579"/>
            <a:ext cx="7344199" cy="525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Plus Jakarta Sans"/>
              </a:rPr>
              <a:t>Data Pipeline to Executive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1475" y="5099595"/>
            <a:ext cx="3829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E-Commerce Data Analytics &amp; Strategic Insights Presentation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2998440"/>
            <a:ext cx="904875" cy="314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8475" y="307940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225" y="2998440"/>
            <a:ext cx="1695450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2075" y="307940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7825" y="2998440"/>
            <a:ext cx="1104900" cy="3143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307940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0875" y="2998440"/>
            <a:ext cx="1200150" cy="3143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425" y="3079402"/>
            <a:ext cx="1333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39175" y="2998440"/>
            <a:ext cx="1571625" cy="3143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162175" y="3931890"/>
            <a:ext cx="78676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b="0" sz="1650" i="0" u="none">
                <a:solidFill>
                  <a:srgbClr val="F8FAFC"/>
                </a:solidFill>
                <a:latin typeface="Plus Jakarta Sans SemiBold"/>
              </a:rPr>
              <a:t>"Clean and validated data enables reliable SQL analysis; reliable analysis enables targeted, high-impact business decisions."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152525"/>
            <a:ext cx="11125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19145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3400" y="191452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954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8775" y="1302543"/>
            <a:ext cx="100298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https://www.slideteam.net/media/catalog/product/cache/1280x720/a/n/analysis_of_ecommerce_sales_in_power_bi_slide01.jpg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775" y="1535906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www.slideteam.net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526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28775" y="2066925"/>
            <a:ext cx="10029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https://www.ibm.com/content/adobe-cms/us/en/think/topics/data-architecture/jcr:content/root/table_of_contents/body-article-8/image.coreimg.png/1775594719724/data-architecture-flow.png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5" y="2486025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www.ibm.com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57200"/>
            <a:ext cx="116586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